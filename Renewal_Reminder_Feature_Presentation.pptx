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D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7B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7B890"/>
                </a:solidFill>
                <a:latin typeface="Arial"/>
              </a:defRPr>
            </a:pPr>
            <a:r>
              <a:t>INSUREWELL DIGITAL SUITE  |  NEW FEATURE 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Downloadable Policy</a:t>
            </a:r>
            <a:br/>
            <a:r>
              <a:t>Renewal Reminders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8D6E5"/>
                </a:solidFill>
                <a:latin typeface="Arial"/>
              </a:defRPr>
            </a:pPr>
            <a:r>
              <a:t>Programmatic on-the-fly PDF generation matched with conditional responsive alert banners.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Arial"/>
              </a:defRPr>
            </a:pPr>
            <a:r>
              <a:t>DEVELOPMENT PHASE: SDLC FEATURE RELEASE  |  AUTHOR: COPILOT AGENT</a:t>
            </a:r>
            <a:br/>
            <a:r>
              <a:t>BUILT WITH: SPRING BOOT 3.1 &amp; APACHE PDFBOX (BACKEND)  +  REACT 18 &amp; PLAYWRIGHT (FRONTEND)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B890"/>
          </a:solidFill>
          <a:ln>
            <a:solidFill>
              <a:srgbClr val="17B8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7B890"/>
                </a:solidFill>
                <a:latin typeface="Arial"/>
              </a:defRPr>
            </a:pPr>
            <a:r>
              <a:t>01 / ARCHITECTURE &amp; BACKEND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D59"/>
                </a:solidFill>
                <a:latin typeface="Arial"/>
              </a:defRPr>
            </a:pPr>
            <a:r>
              <a:t>Robust PDF Generation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E3D59"/>
                </a:solidFill>
              </a:defRPr>
            </a:pPr>
            <a:r>
              <a:t>Dynamic Document Service</a:t>
            </a:r>
          </a:p>
          <a:p>
            <a:pPr>
              <a:defRPr b="1" sz="1100">
                <a:solidFill>
                  <a:srgbClr val="2D3748"/>
                </a:solidFill>
              </a:defRPr>
            </a:pPr>
            <a:r>
              <a:t>•  Apache PDFBox Core Integration: </a:t>
            </a:r>
          </a:p>
          <a:p>
            <a:pPr>
              <a:spcAft>
                <a:spcPts val="800"/>
              </a:spcAft>
              <a:defRPr sz="1000">
                <a:solidFill>
                  <a:srgbClr val="6C757D"/>
                </a:solidFill>
              </a:defRPr>
            </a:pPr>
            <a:r>
              <a:t>   Dynamic canvas API translates java memory model into exact-dimension PDF blocks. No filesystem clutter - streaming bytes on-the-fly.</a:t>
            </a:r>
          </a:p>
          <a:p>
            <a:pPr>
              <a:defRPr b="1" sz="1100">
                <a:solidFill>
                  <a:srgbClr val="2D3748"/>
                </a:solidFill>
              </a:defRPr>
            </a:pPr>
            <a:r>
              <a:t>•  Streamlined Controller Endpoint: </a:t>
            </a:r>
          </a:p>
          <a:p>
            <a:pPr>
              <a:spcAft>
                <a:spcPts val="800"/>
              </a:spcAft>
              <a:defRPr sz="1000">
                <a:solidFill>
                  <a:srgbClr val="6C757D"/>
                </a:solidFill>
              </a:defRPr>
            </a:pPr>
            <a:r>
              <a:t>   Exposes /api/policies/{id}/reminder-pdf to deliver PDF byte arrays directly with content-disposition and no-cache control headers.</a:t>
            </a:r>
          </a:p>
          <a:p>
            <a:pPr>
              <a:defRPr b="1" sz="1100">
                <a:solidFill>
                  <a:srgbClr val="2D3748"/>
                </a:solidFill>
              </a:defRPr>
            </a:pPr>
            <a:r>
              <a:t>•  Comprehensive Domain Models: </a:t>
            </a:r>
          </a:p>
          <a:p>
            <a:pPr>
              <a:spcAft>
                <a:spcPts val="800"/>
              </a:spcAft>
              <a:defRPr sz="1000">
                <a:solidFill>
                  <a:srgbClr val="6C757D"/>
                </a:solidFill>
              </a:defRPr>
            </a:pPr>
            <a:r>
              <a:t>   Hydrates the PDF layout with active user account details, customized coverage metrics, policy end dates, and claim summaries.</a:t>
            </a:r>
          </a:p>
          <a:p>
            <a:pPr>
              <a:defRPr b="1" sz="1100">
                <a:solidFill>
                  <a:srgbClr val="2D3748"/>
                </a:solidFill>
              </a:defRPr>
            </a:pPr>
            <a:r>
              <a:t>•  Robust MockMvc Unit Coverage: </a:t>
            </a:r>
          </a:p>
          <a:p>
            <a:pPr>
              <a:spcAft>
                <a:spcPts val="800"/>
              </a:spcAft>
              <a:defRPr sz="1000">
                <a:solidFill>
                  <a:srgbClr val="6C757D"/>
                </a:solidFill>
              </a:defRPr>
            </a:pPr>
            <a:r>
              <a:t>   PolicyControllerTest.java tests successful execution streams, correct MIME headers, and 404 handler safety.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7B890"/>
                </a:solidFill>
              </a:defRPr>
            </a:pPr>
            <a:r>
              <a:t>📄  pom.xml</a:t>
            </a:r>
          </a:p>
          <a:p>
            <a:pPr>
              <a:defRPr b="1" sz="1000">
                <a:solidFill>
                  <a:srgbClr val="1E3D59"/>
                </a:solidFill>
              </a:defRPr>
            </a:pPr>
            <a:r>
              <a:t>Role: Core PDFBox Dependencies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t>Adds Apache PDFBox 3.0.0 coordinate mapping for rendering graphics, tables, and typography fonts on the JVM.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136391"/>
            <a:ext cx="5212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227831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7B890"/>
                </a:solidFill>
              </a:defRPr>
            </a:pPr>
            <a:r>
              <a:t>📄  PolicyController.java</a:t>
            </a:r>
          </a:p>
          <a:p>
            <a:pPr>
              <a:defRPr b="1" sz="1000">
                <a:solidFill>
                  <a:srgbClr val="1E3D59"/>
                </a:solidFill>
              </a:defRPr>
            </a:pPr>
            <a:r>
              <a:t>Role: GET Endpoint Mapping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t>Orchestrates mapping for /api/policies/{id}/reminder-pdf. Returns ResponseEntity&lt;byte[]&gt; containing the output stream.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626864"/>
            <a:ext cx="5212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718304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7B890"/>
                </a:solidFill>
              </a:defRPr>
            </a:pPr>
            <a:r>
              <a:t>📄  RenewalReminderPdfService.java</a:t>
            </a:r>
          </a:p>
          <a:p>
            <a:pPr>
              <a:defRPr b="1" sz="1000">
                <a:solidFill>
                  <a:srgbClr val="1E3D59"/>
                </a:solidFill>
              </a:defRPr>
            </a:pPr>
            <a:r>
              <a:t>Role: Drawing &amp; Math Canvas Engine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t>Constructs a brand-centric canvas, draws custom accent banners, structures the claim history, and computes deadline alerts.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B890"/>
          </a:solidFill>
          <a:ln>
            <a:solidFill>
              <a:srgbClr val="17B8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7B890"/>
                </a:solidFill>
                <a:latin typeface="Arial"/>
              </a:defRPr>
            </a:pPr>
            <a:r>
              <a:t>02 / USER EXPERIENCE &amp; FRONTEND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D59"/>
                </a:solidFill>
                <a:latin typeface="Arial"/>
              </a:defRPr>
            </a:pPr>
            <a:r>
              <a:t>Responsive Banners &amp; Action Cards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E3D59"/>
                </a:solidFill>
              </a:defRPr>
            </a:pPr>
            <a:r>
              <a:t>Interactive UI Components</a:t>
            </a:r>
          </a:p>
          <a:p>
            <a:pPr>
              <a:defRPr b="1" sz="1100">
                <a:solidFill>
                  <a:srgbClr val="2D3748"/>
                </a:solidFill>
              </a:defRPr>
            </a:pPr>
            <a:r>
              <a:t>•  RenewalReminderBanner Component: </a:t>
            </a:r>
          </a:p>
          <a:p>
            <a:pPr>
              <a:spcAft>
                <a:spcPts val="800"/>
              </a:spcAft>
              <a:defRPr sz="1000">
                <a:solidFill>
                  <a:srgbClr val="6C757D"/>
                </a:solidFill>
              </a:defRPr>
            </a:pPr>
            <a:r>
              <a:t>   A high-visibility notification bar injected at the top of the dashboard. Adapts layout, color-schemes, and typography dynamically depending on the selected policy's state.</a:t>
            </a:r>
          </a:p>
          <a:p>
            <a:pPr>
              <a:defRPr b="1" sz="1100">
                <a:solidFill>
                  <a:srgbClr val="2D3748"/>
                </a:solidFill>
              </a:defRPr>
            </a:pPr>
            <a:r>
              <a:t>•  Dashboard.js State Orchestrator: </a:t>
            </a:r>
          </a:p>
          <a:p>
            <a:pPr>
              <a:spcAft>
                <a:spcPts val="800"/>
              </a:spcAft>
              <a:defRPr sz="1000">
                <a:solidFill>
                  <a:srgbClr val="6C757D"/>
                </a:solidFill>
              </a:defRPr>
            </a:pPr>
            <a:r>
              <a:t>   Coordinates loading, selects active policy indexes, binds API triggers to policy tables, and dispatches dynamic PDF bytes directly to the browser window.</a:t>
            </a:r>
          </a:p>
          <a:p>
            <a:pPr>
              <a:defRPr b="1" sz="1100">
                <a:solidFill>
                  <a:srgbClr val="2D3748"/>
                </a:solidFill>
              </a:defRPr>
            </a:pPr>
            <a:r>
              <a:t>•  Claims.js Interlock: </a:t>
            </a:r>
          </a:p>
          <a:p>
            <a:pPr>
              <a:spcAft>
                <a:spcPts val="800"/>
              </a:spcAft>
              <a:defRPr sz="1000">
                <a:solidFill>
                  <a:srgbClr val="6C757D"/>
                </a:solidFill>
              </a:defRPr>
            </a:pPr>
            <a:r>
              <a:t>   Synchronizes claim details and supports direct navigation from policy notifications back into granular claim files.</a:t>
            </a:r>
          </a:p>
          <a:p>
            <a:pPr>
              <a:defRPr b="1" sz="1100">
                <a:solidFill>
                  <a:srgbClr val="2D3748"/>
                </a:solidFill>
              </a:defRPr>
            </a:pPr>
            <a:r>
              <a:t>•  Professional UX Styles (CSS): </a:t>
            </a:r>
          </a:p>
          <a:p>
            <a:pPr>
              <a:spcAft>
                <a:spcPts val="800"/>
              </a:spcAft>
              <a:defRPr sz="1000">
                <a:solidFill>
                  <a:srgbClr val="6C757D"/>
                </a:solidFill>
              </a:defRPr>
            </a:pPr>
            <a:r>
              <a:t>   Applies standard warning gradients, hover states, card flex-box offsets, and polished download button layouts.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109728" cy="132588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D7E14"/>
                </a:solidFill>
              </a:defRPr>
            </a:pPr>
            <a:r>
              <a:t>●  Orange Warning Banner</a:t>
            </a:r>
          </a:p>
          <a:p>
            <a:pPr>
              <a:defRPr b="1" sz="1000">
                <a:solidFill>
                  <a:srgbClr val="1E3D59"/>
                </a:solidFill>
              </a:defRPr>
            </a:pPr>
            <a:r>
              <a:t>Context: Upcoming Renewal Alert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t>POL-2024-001 (Alex Johnson) expires within 30 days. Triggers a prominent orange warning with download reminders in both the banner and detail card.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136391"/>
            <a:ext cx="5212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3136391"/>
            <a:ext cx="109728" cy="132588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227831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DC3545"/>
                </a:solidFill>
              </a:defRPr>
            </a:pPr>
            <a:r>
              <a:t>●  Red Urgent Banner</a:t>
            </a:r>
          </a:p>
          <a:p>
            <a:pPr>
              <a:defRPr b="1" sz="1000">
                <a:solidFill>
                  <a:srgbClr val="1E3D59"/>
                </a:solidFill>
              </a:defRPr>
            </a:pPr>
            <a:r>
              <a:t>Context: Expired Policy Alert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t>POL-2023-009 (David Chen) is past due. Triggers a high-priority red warning urging immediate renewal, disabling the detail card downloads to prompt 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626864"/>
            <a:ext cx="5212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4626864"/>
            <a:ext cx="109728" cy="1325880"/>
          </a:xfrm>
          <a:prstGeom prst="rect">
            <a:avLst/>
          </a:prstGeom>
          <a:solidFill>
            <a:srgbClr val="1E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718304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E3D59"/>
                </a:solidFill>
              </a:defRPr>
            </a:pPr>
            <a:r>
              <a:t>●  Active Standard Card</a:t>
            </a:r>
          </a:p>
          <a:p>
            <a:pPr>
              <a:defRPr b="1" sz="1000">
                <a:solidFill>
                  <a:srgbClr val="1E3D59"/>
                </a:solidFill>
              </a:defRPr>
            </a:pPr>
            <a:r>
              <a:t>Context: Fully Covered Policy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t>POL-2024-002 (Maria Garcia) is fully active and active. No intrusive banners displayed, but provides the 'Download Reminder' action cleanly within her policy detail card.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B890"/>
          </a:solidFill>
          <a:ln>
            <a:solidFill>
              <a:srgbClr val="17B8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7B890"/>
                </a:solidFill>
                <a:latin typeface="Arial"/>
              </a:defRPr>
            </a:pPr>
            <a:r>
              <a:t>03 / FEATURE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D59"/>
                </a:solidFill>
                <a:latin typeface="Arial"/>
              </a:defRPr>
            </a:pPr>
            <a:r>
              <a:t>Visual User Interface Verification</a:t>
            </a:r>
          </a:p>
        </p:txBody>
      </p:sp>
      <p:pic>
        <p:nvPicPr>
          <p:cNvPr id="5" name="Picture 4" descr="1_renewal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937760" cy="2103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645920"/>
            <a:ext cx="4937760" cy="2103120"/>
          </a:xfrm>
          <a:prstGeom prst="rect">
            <a:avLst/>
          </a:prstGeom>
          <a:noFill/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E3D59"/>
                </a:solidFill>
                <a:latin typeface="Arial"/>
              </a:defRPr>
            </a:pPr>
            <a:r>
              <a:t>1. Active Warning Banner (POL-2024-001)</a:t>
            </a:r>
          </a:p>
        </p:txBody>
      </p:sp>
      <p:pic>
        <p:nvPicPr>
          <p:cNvPr id="8" name="Picture 7" descr="2_policy_detail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4937760" cy="21031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17920" y="1645920"/>
            <a:ext cx="4937760" cy="2103120"/>
          </a:xfrm>
          <a:prstGeom prst="rect">
            <a:avLst/>
          </a:prstGeom>
          <a:noFill/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3749039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E3D59"/>
                </a:solidFill>
                <a:latin typeface="Arial"/>
              </a:defRPr>
            </a:pPr>
            <a:r>
              <a:t>2. Active Standard Policy Card (POL-2024-002)</a:t>
            </a:r>
          </a:p>
        </p:txBody>
      </p:sp>
      <p:pic>
        <p:nvPicPr>
          <p:cNvPr id="11" name="Picture 10" descr="5_download_t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206240"/>
            <a:ext cx="4937760" cy="21031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31520" y="4206240"/>
            <a:ext cx="4937760" cy="2103120"/>
          </a:xfrm>
          <a:prstGeom prst="rect">
            <a:avLst/>
          </a:prstGeom>
          <a:noFill/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E3D59"/>
                </a:solidFill>
                <a:latin typeface="Arial"/>
              </a:defRPr>
            </a:pPr>
            <a:r>
              <a:t>3. Dynamic Download &amp; Browser Shelf Simulation</a:t>
            </a:r>
          </a:p>
        </p:txBody>
      </p:sp>
      <p:pic>
        <p:nvPicPr>
          <p:cNvPr id="14" name="Picture 13" descr="4_generated_pdf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4206240"/>
            <a:ext cx="2926080" cy="3749039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315200" y="4206240"/>
            <a:ext cx="2926080" cy="3749039"/>
          </a:xfrm>
          <a:prstGeom prst="rect">
            <a:avLst/>
          </a:prstGeom>
          <a:noFill/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630936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E3D59"/>
                </a:solidFill>
                <a:latin typeface="Arial"/>
              </a:defRPr>
            </a:pPr>
            <a:r>
              <a:t>4. Dynamic Output PDF Inspection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B890"/>
          </a:solidFill>
          <a:ln>
            <a:solidFill>
              <a:srgbClr val="17B8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7B890"/>
                </a:solidFill>
                <a:latin typeface="Arial"/>
              </a:defRPr>
            </a:pPr>
            <a:r>
              <a:t>04 / TESTING &amp; SDLC QUALITY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D59"/>
                </a:solidFill>
                <a:latin typeface="Arial"/>
              </a:defRPr>
            </a:pPr>
            <a:r>
              <a:t>Comprehensive Quality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17B890"/>
                </a:solidFill>
                <a:latin typeface="Arial"/>
              </a:defRPr>
            </a:pPr>
            <a:r>
              <a:t>100%</a:t>
            </a:r>
          </a:p>
          <a:p>
            <a:pPr>
              <a:defRPr sz="1400" b="1">
                <a:solidFill>
                  <a:srgbClr val="1E3D59"/>
                </a:solidFill>
              </a:defRPr>
            </a:pPr>
            <a:r>
              <a:t>Automated Test Pass Rate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All unit, API controller integration, and frontend Playwright E2E suites passed without modifications or regressions.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1E3D59"/>
                </a:solidFill>
                <a:latin typeface="Arial"/>
              </a:defRPr>
            </a:pPr>
            <a:r>
              <a:t>25 / 25</a:t>
            </a:r>
          </a:p>
          <a:p>
            <a:pPr>
              <a:defRPr sz="1400" b="1">
                <a:solidFill>
                  <a:srgbClr val="17B890"/>
                </a:solidFill>
              </a:defRPr>
            </a:pPr>
            <a:r>
              <a:t>Test Cases Fully Executed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Comprising 2 robust backend controller tests (com.insurewell.controller.PolicyControllerTest) and 23 total frontend E2E and component-spec flows.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E3D59"/>
                </a:solidFill>
              </a:defRPr>
            </a:pPr>
            <a:r>
              <a:t>Integration Verification Details</a:t>
            </a:r>
          </a:p>
          <a:p>
            <a:pPr>
              <a:defRPr b="1" sz="1200">
                <a:solidFill>
                  <a:srgbClr val="17B890"/>
                </a:solidFill>
              </a:defRPr>
            </a:pPr>
            <a:r>
              <a:t>✔ Spring Boot Endpoint Guard</a:t>
            </a:r>
          </a:p>
          <a:p>
            <a:pPr>
              <a:spcAft>
                <a:spcPts val="1200"/>
              </a:spcAft>
              <a:defRPr sz="1050">
                <a:solidFill>
                  <a:srgbClr val="2D3748"/>
                </a:solidFill>
              </a:defRPr>
            </a:pPr>
            <a:r>
              <a:t>MockMvc test harness ensures the controller responds with valid APPLICATION_PDF media type, correct stream sizing, and handles non-existent resources with standard 404 response envelopes.</a:t>
            </a:r>
          </a:p>
          <a:p>
            <a:pPr>
              <a:defRPr b="1" sz="1200">
                <a:solidFill>
                  <a:srgbClr val="17B890"/>
                </a:solidFill>
              </a:defRPr>
            </a:pPr>
            <a:r>
              <a:t>✔ Playwright E2E Automation</a:t>
            </a:r>
          </a:p>
          <a:p>
            <a:pPr>
              <a:spcAft>
                <a:spcPts val="1200"/>
              </a:spcAft>
              <a:defRPr sz="1050">
                <a:solidFill>
                  <a:srgbClr val="2D3748"/>
                </a:solidFill>
              </a:defRPr>
            </a:pPr>
            <a:r>
              <a:t>Browser script successfully simulates all visual states, interacts with policy tabs, clicks download elements, downloads the file binary, and validates full-page visual layouts.</a:t>
            </a:r>
          </a:p>
          <a:p>
            <a:pPr>
              <a:defRPr b="1" sz="1200">
                <a:solidFill>
                  <a:srgbClr val="17B890"/>
                </a:solidFill>
              </a:defRPr>
            </a:pPr>
            <a:r>
              <a:t>✔ UI &amp; Layout Integrity</a:t>
            </a:r>
          </a:p>
          <a:p>
            <a:pPr>
              <a:spcAft>
                <a:spcPts val="1200"/>
              </a:spcAft>
              <a:defRPr sz="1050">
                <a:solidFill>
                  <a:srgbClr val="2D3748"/>
                </a:solidFill>
              </a:defRPr>
            </a:pPr>
            <a:r>
              <a:t>Manual/E2E visual inspections verify strict compliance with branding guidelines: correct color codes, margin widths, high-contrast banner icons, and readable typography layouts.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